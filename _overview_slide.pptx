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751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unity.com/blog/2025-unity-gaming-report-launch" TargetMode="External"/><Relationship Id="rId3" Type="http://schemas.openxmlformats.org/officeDocument/2006/relationships/hyperlink" Target="https://www.tomshardware.com/video-games/pc-gaming/1-in-5-steam-games-released-in-2025-use-generative-ai-up-nearly-700-percent-year-on-year-7-818-titles-disclose-genai-asset-usage-7-percent-of-entire-steam-library" TargetMode="External"/><Relationship Id="rId4" Type="http://schemas.openxmlformats.org/officeDocument/2006/relationships/hyperlink" Target="https://deepmind.google/blog/genie-3-a-new-frontier-for-world-models/" TargetMode="External"/><Relationship Id="rId5" Type="http://schemas.openxmlformats.org/officeDocument/2006/relationships/hyperlink" Target="https://developer.nvidia.com/blog/simulate-robotic-environments-faster-with-nvidia-isaac-sim-and-world-labs-marble/" TargetMode="External"/><Relationship Id="rId6" Type="http://schemas.openxmlformats.org/officeDocument/2006/relationships/hyperlink" Target="https://www.sprite-ai.art/guides/animation-principles" TargetMode="External"/><Relationship Id="rId7" Type="http://schemas.openxmlformats.org/officeDocument/2006/relationships/hyperlink" Target="https://www.itpro.com/software/development/software-developers-not-checking-ai-generated-code-verification-debt" TargetMode="External"/><Relationship Id="rId8" Type="http://schemas.openxmlformats.org/officeDocument/2006/relationships/hyperlink" Target="https://theaiinsider.tech/2025/05/13/sett-emerges-from-stealth-with-27m-to-disrupt-mobile-game-marketing-using-ai-agents/" TargetMode="External"/><Relationship Id="rId9" Type="http://schemas.openxmlformats.org/officeDocument/2006/relationships/hyperlink" Target="https://davidasmith.medium.com/the-state-of-ai-in-aaa-game-production-b7d949df4daa" TargetMode="External"/><Relationship Id="rId10" Type="http://schemas.openxmlformats.org/officeDocument/2006/relationships/hyperlink" Target="https://venturebeat.com/ai/stable-diffusion-creators-launch-black-forest-labs-secure-31m-for-flux-1-ai-image-generat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96112"/>
            <a:ext cx="12191695" cy="38100"/>
          </a:xfrm>
          <a:prstGeom prst="rect">
            <a:avLst/>
          </a:prstGeom>
          <a:solidFill>
            <a:srgbClr val="028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274320"/>
            <a:ext cx="109728" cy="384048"/>
          </a:xfrm>
          <a:prstGeom prst="rect">
            <a:avLst/>
          </a:prstGeom>
          <a:solidFill>
            <a:srgbClr val="028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73736"/>
            <a:ext cx="9052560" cy="36420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2200" b="1" i="0" dirty="0">
                <a:solidFill>
                  <a:srgbClr val="044A57"/>
                </a:solidFill>
                <a:latin typeface="Segoe UI"/>
              </a:rPr>
              <a:t>AI in Game Development — State of the Industry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576072"/>
            <a:ext cx="90525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76679"/>
                </a:solidFill>
                <a:latin typeface="Segoe UI"/>
              </a:rPr>
              <a:t>A reality check across eight domains — and where we should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265176"/>
            <a:ext cx="22860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2859A"/>
                </a:solidFill>
                <a:latin typeface="Segoe UI"/>
              </a:rPr>
              <a:t>AI in Game Dev</a:t>
            </a:r>
          </a:p>
          <a:p>
            <a:pPr algn="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76679"/>
                </a:solidFill>
                <a:latin typeface="Segoe UI"/>
              </a:rPr>
              <a:t>one-page brief ·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042415"/>
            <a:ext cx="5614416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042415"/>
            <a:ext cx="5614416" cy="57150"/>
          </a:xfrm>
          <a:prstGeom prst="rect">
            <a:avLst/>
          </a:prstGeom>
          <a:solidFill>
            <a:srgbClr val="028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1179575"/>
            <a:ext cx="521208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44A57"/>
                </a:solidFill>
                <a:latin typeface="Segoe UI"/>
              </a:rPr>
              <a:t>Where the industry stands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554479"/>
            <a:ext cx="5230368" cy="17922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2859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82231"/>
                </a:solidFill>
                <a:latin typeface="Segoe UI"/>
              </a:rPr>
              <a:t>Generation is everywhere — ~96% of studios already use AI somewhere</a:t>
            </a:r>
            <a:r>
              <a:rPr sz="780" b="1" i="0" baseline="30000">
                <a:solidFill>
                  <a:srgbClr val="02859A"/>
                </a:solidFill>
                <a:latin typeface="Segoe UI"/>
                <a:hlinkClick r:id="rId2"/>
              </a:rPr>
              <a:t>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2859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82231"/>
                </a:solidFill>
                <a:latin typeface="Segoe UI"/>
              </a:rPr>
              <a:t>~20% of 2025 Steam releases disclose AI, yet zero AAA titles ship on a neural engine</a:t>
            </a:r>
            <a:r>
              <a:rPr sz="780" b="1" i="0" baseline="30000">
                <a:solidFill>
                  <a:srgbClr val="02859A"/>
                </a:solidFill>
                <a:latin typeface="Segoe UI"/>
                <a:hlinkClick r:id="rId3"/>
              </a:rPr>
              <a:t> 2</a:t>
            </a:r>
            <a:r>
              <a:rPr sz="780" b="1" i="0" baseline="30000">
                <a:solidFill>
                  <a:srgbClr val="02859A"/>
                </a:solidFill>
                <a:latin typeface="Segoe UI"/>
                <a:hlinkClick r:id="rId4"/>
              </a:rPr>
              <a:t>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2859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82231"/>
                </a:solidFill>
                <a:latin typeface="Segoe UI"/>
              </a:rPr>
              <a:t>Persistence, animation and game-ready output are essentially the same as in 2024</a:t>
            </a:r>
            <a:r>
              <a:rPr sz="780" b="1" i="0" baseline="30000">
                <a:solidFill>
                  <a:srgbClr val="02859A"/>
                </a:solidFill>
                <a:latin typeface="Segoe UI"/>
                <a:hlinkClick r:id="rId4"/>
              </a:rPr>
              <a:t> 3</a:t>
            </a:r>
            <a:r>
              <a:rPr sz="780" b="1" i="0" baseline="30000">
                <a:solidFill>
                  <a:srgbClr val="02859A"/>
                </a:solidFill>
                <a:latin typeface="Segoe UI"/>
                <a:hlinkClick r:id="rId5"/>
              </a:rPr>
              <a:t>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042415"/>
            <a:ext cx="5614416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63056" y="1042415"/>
            <a:ext cx="5614416" cy="57150"/>
          </a:xfrm>
          <a:prstGeom prst="rect">
            <a:avLst/>
          </a:prstGeom>
          <a:solidFill>
            <a:srgbClr val="028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179575"/>
            <a:ext cx="521208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44A57"/>
                </a:solidFill>
                <a:latin typeface="Segoe UI"/>
              </a:rPr>
              <a:t>What's still unsolved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554479"/>
            <a:ext cx="5230368" cy="17922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2859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82231"/>
                </a:solidFill>
                <a:latin typeface="Segoe UI"/>
              </a:rPr>
              <a:t>Coherent multi-frame animation and complex poses</a:t>
            </a:r>
            <a:r>
              <a:rPr sz="780" b="1" i="0" baseline="30000">
                <a:solidFill>
                  <a:srgbClr val="02859A"/>
                </a:solidFill>
                <a:latin typeface="Segoe UI"/>
                <a:hlinkClick r:id="rId6"/>
              </a:rPr>
              <a:t> 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2859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82231"/>
                </a:solidFill>
                <a:latin typeface="Segoe UI"/>
              </a:rPr>
              <a:t>Neural-world output is visuals only — not engine-ready</a:t>
            </a:r>
            <a:r>
              <a:rPr sz="780" b="1" i="0" baseline="30000">
                <a:solidFill>
                  <a:srgbClr val="02859A"/>
                </a:solidFill>
                <a:latin typeface="Segoe UI"/>
                <a:hlinkClick r:id="rId4"/>
              </a:rPr>
              <a:t>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2859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82231"/>
                </a:solidFill>
                <a:latin typeface="Segoe UI"/>
              </a:rPr>
              <a:t>Splat &amp; mesh worlds ship with no colliders or game-ready geometry</a:t>
            </a:r>
            <a:r>
              <a:rPr sz="780" b="1" i="0" baseline="30000">
                <a:solidFill>
                  <a:srgbClr val="02859A"/>
                </a:solidFill>
                <a:latin typeface="Segoe UI"/>
                <a:hlinkClick r:id="rId5"/>
              </a:rPr>
              <a:t> 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2859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82231"/>
                </a:solidFill>
                <a:latin typeface="Segoe UI"/>
              </a:rPr>
              <a:t>"Compiles ≠ works": generated code is never behaviourally verified</a:t>
            </a:r>
            <a:r>
              <a:rPr sz="780" b="1" i="0" baseline="30000">
                <a:solidFill>
                  <a:srgbClr val="02859A"/>
                </a:solidFill>
                <a:latin typeface="Segoe UI"/>
                <a:hlinkClick r:id="rId7"/>
              </a:rPr>
              <a:t> 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529584"/>
            <a:ext cx="5614416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3529584"/>
            <a:ext cx="5614416" cy="57150"/>
          </a:xfrm>
          <a:prstGeom prst="rect">
            <a:avLst/>
          </a:prstGeom>
          <a:solidFill>
            <a:srgbClr val="028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3666744"/>
            <a:ext cx="5212080" cy="3108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44A57"/>
                </a:solidFill>
                <a:latin typeface="Segoe UI"/>
              </a:rPr>
              <a:t>Can AI do the whole job?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986784"/>
            <a:ext cx="45720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02859A"/>
                </a:solidFill>
                <a:latin typeface="Segoe UI"/>
              </a:rPr>
              <a:t>Not yet.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498848"/>
            <a:ext cx="5230368" cy="1316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2859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82231"/>
                </a:solidFill>
                <a:latin typeface="Segoe UI"/>
              </a:rPr>
              <a:t>Yes — for UA creatives, prototypes and background / filler content</a:t>
            </a:r>
            <a:r>
              <a:rPr sz="780" b="1" i="0" baseline="30000">
                <a:solidFill>
                  <a:srgbClr val="02859A"/>
                </a:solidFill>
                <a:latin typeface="Segoe UI"/>
                <a:hlinkClick r:id="rId8"/>
              </a:rPr>
              <a:t> 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2859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82231"/>
                </a:solidFill>
                <a:latin typeface="Segoe UI"/>
              </a:rPr>
              <a:t>The honest framing is augmentation: AI + ~20% human, not replacement</a:t>
            </a:r>
            <a:r>
              <a:rPr sz="780" b="1" i="0" baseline="30000">
                <a:solidFill>
                  <a:srgbClr val="02859A"/>
                </a:solidFill>
                <a:latin typeface="Segoe UI"/>
                <a:hlinkClick r:id="rId9"/>
              </a:rPr>
              <a:t> 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29584"/>
            <a:ext cx="5614416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63056" y="3529584"/>
            <a:ext cx="5614416" cy="57150"/>
          </a:xfrm>
          <a:prstGeom prst="rect">
            <a:avLst/>
          </a:prstGeom>
          <a:solidFill>
            <a:srgbClr val="028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64224" y="3666744"/>
            <a:ext cx="5212080" cy="2180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250" b="1" i="0" dirty="0">
                <a:solidFill>
                  <a:srgbClr val="044A57"/>
                </a:solidFill>
                <a:latin typeface="Segoe UI"/>
              </a:rPr>
              <a:t>Strategic assumptions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4041648"/>
            <a:ext cx="5230368" cy="17922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2859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82231"/>
                </a:solidFill>
                <a:latin typeface="Segoe UI"/>
              </a:rPr>
              <a:t>Generators are commoditised — all sit on SDXL / FLUX / LLMs, so vendor risk = model risk</a:t>
            </a:r>
            <a:r>
              <a:rPr sz="780" b="1" i="0" baseline="30000">
                <a:solidFill>
                  <a:srgbClr val="02859A"/>
                </a:solidFill>
                <a:latin typeface="Segoe UI"/>
                <a:hlinkClick r:id="rId10"/>
              </a:rPr>
              <a:t> 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2859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82231"/>
                </a:solidFill>
                <a:latin typeface="Segoe UI"/>
              </a:rPr>
              <a:t>So sell the integration, not the generator — defensible value lives above the model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2859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82231"/>
                </a:solidFill>
                <a:latin typeface="Segoe UI"/>
              </a:rPr>
              <a:t>Key unresolved direction: "game-ready" verification</a:t>
            </a:r>
            <a:r>
              <a:rPr sz="780" b="1" i="0" baseline="30000">
                <a:solidFill>
                  <a:srgbClr val="02859A"/>
                </a:solidFill>
                <a:latin typeface="Segoe UI"/>
                <a:hlinkClick r:id="rId5"/>
              </a:rPr>
              <a:t> 4</a:t>
            </a:r>
            <a:r>
              <a:rPr sz="780" b="1" i="0" baseline="30000">
                <a:solidFill>
                  <a:srgbClr val="02859A"/>
                </a:solidFill>
                <a:latin typeface="Segoe UI"/>
                <a:hlinkClick r:id="rId7"/>
              </a:rPr>
              <a:t> 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035040"/>
            <a:ext cx="11365992" cy="12700"/>
          </a:xfrm>
          <a:prstGeom prst="rect">
            <a:avLst/>
          </a:prstGeom>
          <a:solidFill>
            <a:srgbClr val="CF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9768" y="6089904"/>
            <a:ext cx="11338560" cy="7132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44A57"/>
                </a:solidFill>
                <a:latin typeface="Arial"/>
              </a:rPr>
              <a:t>Sources   </a:t>
            </a:r>
            <a:r>
              <a:rPr sz="750" b="1">
                <a:solidFill>
                  <a:srgbClr val="02859A"/>
                </a:solidFill>
                <a:latin typeface="Arial"/>
                <a:hlinkClick r:id="rId2"/>
              </a:rPr>
              <a:t>1 </a:t>
            </a:r>
            <a:r>
              <a:rPr sz="750" b="0">
                <a:solidFill>
                  <a:srgbClr val="576679"/>
                </a:solidFill>
                <a:latin typeface="Arial"/>
              </a:rPr>
              <a:t>Unity Gaming Report 2025  </a:t>
            </a:r>
            <a:r>
              <a:rPr sz="750" b="0" u="sng">
                <a:solidFill>
                  <a:srgbClr val="02859A"/>
                </a:solidFill>
                <a:latin typeface="Arial"/>
                <a:hlinkClick r:id="rId2"/>
              </a:rPr>
              <a:t>unity.com</a:t>
            </a:r>
            <a:r>
              <a:rPr sz="750" b="0">
                <a:solidFill>
                  <a:srgbClr val="576679"/>
                </a:solidFill>
                <a:latin typeface="Arial"/>
              </a:rPr>
              <a:t>      </a:t>
            </a:r>
            <a:r>
              <a:rPr sz="750" b="1">
                <a:solidFill>
                  <a:srgbClr val="02859A"/>
                </a:solidFill>
                <a:latin typeface="Arial"/>
                <a:hlinkClick r:id="rId3"/>
              </a:rPr>
              <a:t>2 </a:t>
            </a:r>
            <a:r>
              <a:rPr sz="750" b="0">
                <a:solidFill>
                  <a:srgbClr val="576679"/>
                </a:solidFill>
                <a:latin typeface="Arial"/>
              </a:rPr>
              <a:t>Tom's Hardware  </a:t>
            </a:r>
            <a:r>
              <a:rPr sz="750" b="0" u="sng">
                <a:solidFill>
                  <a:srgbClr val="02859A"/>
                </a:solidFill>
                <a:latin typeface="Arial"/>
                <a:hlinkClick r:id="rId3"/>
              </a:rPr>
              <a:t>tomshardware.com</a:t>
            </a:r>
            <a:r>
              <a:rPr sz="750" b="0">
                <a:solidFill>
                  <a:srgbClr val="576679"/>
                </a:solidFill>
                <a:latin typeface="Arial"/>
              </a:rPr>
              <a:t>      </a:t>
            </a:r>
            <a:r>
              <a:rPr sz="750" b="1">
                <a:solidFill>
                  <a:srgbClr val="02859A"/>
                </a:solidFill>
                <a:latin typeface="Arial"/>
                <a:hlinkClick r:id="rId4"/>
              </a:rPr>
              <a:t>3 </a:t>
            </a:r>
            <a:r>
              <a:rPr sz="750" b="0">
                <a:solidFill>
                  <a:srgbClr val="576679"/>
                </a:solidFill>
                <a:latin typeface="Arial"/>
              </a:rPr>
              <a:t>DeepMind Genie 3  </a:t>
            </a:r>
            <a:r>
              <a:rPr sz="750" b="0" u="sng">
                <a:solidFill>
                  <a:srgbClr val="02859A"/>
                </a:solidFill>
                <a:latin typeface="Arial"/>
                <a:hlinkClick r:id="rId4"/>
              </a:rPr>
              <a:t>deepmind.google</a:t>
            </a:r>
            <a:r>
              <a:rPr sz="750" b="0">
                <a:solidFill>
                  <a:srgbClr val="576679"/>
                </a:solidFill>
                <a:latin typeface="Arial"/>
              </a:rPr>
              <a:t>      </a:t>
            </a:r>
            <a:r>
              <a:rPr sz="750" b="1">
                <a:solidFill>
                  <a:srgbClr val="02859A"/>
                </a:solidFill>
                <a:latin typeface="Arial"/>
                <a:hlinkClick r:id="rId5"/>
              </a:rPr>
              <a:t>4 </a:t>
            </a:r>
            <a:r>
              <a:rPr sz="750" b="0">
                <a:solidFill>
                  <a:srgbClr val="576679"/>
                </a:solidFill>
                <a:latin typeface="Arial"/>
              </a:rPr>
              <a:t>NVIDIA Isaac × Marble  </a:t>
            </a:r>
            <a:r>
              <a:rPr sz="750" b="0" u="sng">
                <a:solidFill>
                  <a:srgbClr val="02859A"/>
                </a:solidFill>
                <a:latin typeface="Arial"/>
                <a:hlinkClick r:id="rId5"/>
              </a:rPr>
              <a:t>developer.nvidia.com</a:t>
            </a:r>
            <a:r>
              <a:rPr sz="750" b="0">
                <a:solidFill>
                  <a:srgbClr val="576679"/>
                </a:solidFill>
                <a:latin typeface="Arial"/>
              </a:rPr>
              <a:t>      </a:t>
            </a:r>
            <a:r>
              <a:rPr sz="750" b="1">
                <a:solidFill>
                  <a:srgbClr val="02859A"/>
                </a:solidFill>
                <a:latin typeface="Arial"/>
                <a:hlinkClick r:id="rId6"/>
              </a:rPr>
              <a:t>5 </a:t>
            </a:r>
            <a:r>
              <a:rPr sz="750" b="0">
                <a:solidFill>
                  <a:srgbClr val="576679"/>
                </a:solidFill>
                <a:latin typeface="Arial"/>
              </a:rPr>
              <a:t>Sprite-AI animation  </a:t>
            </a:r>
            <a:r>
              <a:rPr sz="750" b="0" u="sng">
                <a:solidFill>
                  <a:srgbClr val="02859A"/>
                </a:solidFill>
                <a:latin typeface="Arial"/>
                <a:hlinkClick r:id="rId6"/>
              </a:rPr>
              <a:t>sprite-ai.art</a:t>
            </a:r>
            <a:r>
              <a:rPr sz="750" b="0">
                <a:solidFill>
                  <a:srgbClr val="576679"/>
                </a:solidFill>
                <a:latin typeface="Arial"/>
              </a:rPr>
              <a:t>      </a:t>
            </a:r>
            <a:r>
              <a:rPr sz="750" b="1">
                <a:solidFill>
                  <a:srgbClr val="02859A"/>
                </a:solidFill>
                <a:latin typeface="Arial"/>
                <a:hlinkClick r:id="rId7"/>
              </a:rPr>
              <a:t>6 </a:t>
            </a:r>
            <a:r>
              <a:rPr sz="750" b="0">
                <a:solidFill>
                  <a:srgbClr val="576679"/>
                </a:solidFill>
                <a:latin typeface="Arial"/>
              </a:rPr>
              <a:t>IT Pro — verification debt  </a:t>
            </a:r>
            <a:r>
              <a:rPr sz="750" b="0" u="sng">
                <a:solidFill>
                  <a:srgbClr val="02859A"/>
                </a:solidFill>
                <a:latin typeface="Arial"/>
                <a:hlinkClick r:id="rId7"/>
              </a:rPr>
              <a:t>itpro.com</a:t>
            </a:r>
            <a:r>
              <a:rPr sz="750" b="0">
                <a:solidFill>
                  <a:srgbClr val="576679"/>
                </a:solidFill>
                <a:latin typeface="Arial"/>
              </a:rPr>
              <a:t>      </a:t>
            </a:r>
            <a:r>
              <a:rPr sz="750" b="1">
                <a:solidFill>
                  <a:srgbClr val="02859A"/>
                </a:solidFill>
                <a:latin typeface="Arial"/>
                <a:hlinkClick r:id="rId9"/>
              </a:rPr>
              <a:t>7 </a:t>
            </a:r>
            <a:r>
              <a:rPr sz="750" b="0">
                <a:solidFill>
                  <a:srgbClr val="576679"/>
                </a:solidFill>
                <a:latin typeface="Arial"/>
              </a:rPr>
              <a:t>D. A. Smith — AI in AAA  </a:t>
            </a:r>
            <a:r>
              <a:rPr sz="750" b="0" u="sng">
                <a:solidFill>
                  <a:srgbClr val="02859A"/>
                </a:solidFill>
                <a:latin typeface="Arial"/>
                <a:hlinkClick r:id="rId9"/>
              </a:rPr>
              <a:t>medium.com</a:t>
            </a:r>
            <a:r>
              <a:rPr sz="750" b="0">
                <a:solidFill>
                  <a:srgbClr val="576679"/>
                </a:solidFill>
                <a:latin typeface="Arial"/>
              </a:rPr>
              <a:t>      </a:t>
            </a:r>
            <a:r>
              <a:rPr sz="750" b="1">
                <a:solidFill>
                  <a:srgbClr val="02859A"/>
                </a:solidFill>
                <a:latin typeface="Arial"/>
                <a:hlinkClick r:id="rId10"/>
              </a:rPr>
              <a:t>8 </a:t>
            </a:r>
            <a:r>
              <a:rPr sz="750" b="0">
                <a:solidFill>
                  <a:srgbClr val="576679"/>
                </a:solidFill>
                <a:latin typeface="Arial"/>
              </a:rPr>
              <a:t>VentureBeat — FLUX  </a:t>
            </a:r>
            <a:r>
              <a:rPr sz="750" b="0" u="sng">
                <a:solidFill>
                  <a:srgbClr val="02859A"/>
                </a:solidFill>
                <a:latin typeface="Arial"/>
                <a:hlinkClick r:id="rId10"/>
              </a:rPr>
              <a:t>venturebeat.com</a:t>
            </a:r>
            <a:r>
              <a:rPr sz="750" b="0">
                <a:solidFill>
                  <a:srgbClr val="576679"/>
                </a:solidFill>
                <a:latin typeface="Arial"/>
              </a:rPr>
              <a:t>      </a:t>
            </a:r>
            <a:r>
              <a:rPr sz="750" b="1">
                <a:solidFill>
                  <a:srgbClr val="02859A"/>
                </a:solidFill>
                <a:latin typeface="Arial"/>
                <a:hlinkClick r:id="rId8"/>
              </a:rPr>
              <a:t>9 </a:t>
            </a:r>
            <a:r>
              <a:rPr sz="750" b="0">
                <a:solidFill>
                  <a:srgbClr val="576679"/>
                </a:solidFill>
                <a:latin typeface="Arial"/>
              </a:rPr>
              <a:t>The AI Insider — Sett  </a:t>
            </a:r>
            <a:r>
              <a:rPr sz="750" b="0" u="sng">
                <a:solidFill>
                  <a:srgbClr val="02859A"/>
                </a:solidFill>
                <a:latin typeface="Arial"/>
                <a:hlinkClick r:id="rId8"/>
              </a:rPr>
              <a:t>theaiinsider.tech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47104"/>
            <a:ext cx="5486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5BD7"/>
                </a:solidFill>
                <a:latin typeface="Segoe UI"/>
              </a:rPr>
              <a:t>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358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Oleg Zinkevich</cp:lastModifiedBy>
  <cp:revision>2</cp:revision>
  <dcterms:created xsi:type="dcterms:W3CDTF">2013-01-27T09:14:16Z</dcterms:created>
  <dcterms:modified xsi:type="dcterms:W3CDTF">2026-06-01T12:57:04Z</dcterms:modified>
  <cp:category/>
</cp:coreProperties>
</file>